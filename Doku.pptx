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0" r:id="rId4"/>
    <p:sldId id="264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F0623-1E73-BDB1-8250-23791AE22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9D3446-7AEB-E30E-5FB5-B1480F5ED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213729-3E05-52E9-05E2-2C176706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50B1A8-C687-568C-CAC8-F9207981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C809E6-E1E0-7914-6EA0-7C3DF888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1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C5A21-F499-86CC-5802-32170E1A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D21B9D-C1C1-A5CA-66DD-00E6E8DD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F242C2-BD0E-32E2-03AE-F1E6A744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92FB44-58EE-0E50-07AA-74D2369F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B9E5F-1772-602F-9C77-36851DD4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34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869F8-B0D8-3A54-81EA-C95FAE75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A3DF9A-1B8B-5209-31FB-EBBBD05EE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C6C216-EDCA-1FA2-4357-333A842E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0C83FD-6943-C630-455C-9AE4C788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69274D-DB4B-7B15-22C2-4491A1A5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33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EC31C9-8598-D807-A0DE-0A416C5A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C2E79E-A8D1-3410-FBE6-0E5736C6A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A44E0D-1D93-65C4-590E-F892A81F0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98519C-0FAA-D3C9-C7B7-551315AE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5F1A1B-3A04-598F-B161-A810D815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3432E6-4F6D-715B-E2A0-E4B284951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61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F9F28-EE62-0419-8662-A74A3C84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AF22EE-505A-0949-2BD5-E97B9AA71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2EBF8E-1FCF-58F7-D22E-8AECD65FE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2DD357-CC4B-851F-B7A7-C8D9A8614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71F84D-D8E3-5774-C4BE-12EB641AF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F6E993-B04B-7D24-1092-675597B4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0C3595-B6F7-F425-E275-44F284914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FD32EB-A330-DCCA-B703-1FE1F4FB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83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010B0-1EEF-3550-9608-3F561B4F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6D50EE-CCB2-9C2A-E62E-23537B64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953AF5-C49B-E4B8-5C5A-B6376451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D686F9-509B-9BD9-6030-84D47D1F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08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065917-933D-82E7-9F3C-FF65526A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151712-DA10-2766-0A8C-04517B64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6927E4-EB6A-23D8-438A-4C04FEE6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65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F837E-2553-B911-DE55-B9B23C63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0D4D13-CBFD-F73C-48D1-BAD277296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BF77AC-98AB-1DC1-615D-A48CC6CA7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CF9713-0AFE-897E-9791-4F925655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93E709-BDFA-9A69-794B-2AB02582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16195A-536E-0BEA-2E4A-2679DB8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76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5B20D-C219-063A-0709-0B573589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756518A-9364-ACE8-9482-CDEB3E4C9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8C4D77-5EF0-FA5F-8FAC-2D30F9AB9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F68CC8-9459-5DD9-24CF-4C9F3CF0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F6AFB2-D52B-0A77-858E-96FDB075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30C77F-6F5B-6833-B9D1-1224FCC8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064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CF472-EEBE-9A29-9969-39BCF58B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4A711A-E505-562F-BE53-34CD9A7C7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1B4F4E-8ED2-44A2-1C0F-DB12F853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73C4FB-9824-DD2B-0DA2-B0DD3EFB4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11960-070C-CC61-7012-72790DDD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3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3B09D16-FB99-7E5C-9CE0-A1373CC8C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CC80DB-6EC6-DC02-392C-463454212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B6D498-37FE-0A88-AEAC-C8EA1A74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89FC4D-F7C9-BE4A-4048-E1368B9B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AFC85E-53DB-8D31-6810-9C2D1234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93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DFFB0A-63F6-AEFB-BCDC-F47EF765F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FDEDCF-6495-1005-5ADA-DA452FF58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BFA2F-9CB3-F12D-B2BA-A4476F5FA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F43B1-9672-4C42-A03D-FD8CC0D4BE85}" type="datetimeFigureOut">
              <a:rPr lang="de-DE" smtClean="0"/>
              <a:t>27.02.2024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9EBE94-9A3A-91B0-DBED-3AE1D6475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AF7FBA-23C7-B068-1F3A-B0D8D8AC9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3BADD-546B-4F0A-8937-25CCF801D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79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ABC416F-9C1D-B7A5-AB80-0E03A7C28FD1}"/>
              </a:ext>
            </a:extLst>
          </p:cNvPr>
          <p:cNvSpPr/>
          <p:nvPr/>
        </p:nvSpPr>
        <p:spPr>
          <a:xfrm>
            <a:off x="694944" y="923544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77033-90A3-0328-4FA7-4185BABC4B8B}"/>
              </a:ext>
            </a:extLst>
          </p:cNvPr>
          <p:cNvSpPr/>
          <p:nvPr/>
        </p:nvSpPr>
        <p:spPr>
          <a:xfrm>
            <a:off x="3310128" y="923544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388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9F975-EB2A-9DF8-3729-50F9A522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1BEF86F-8E76-075A-B1F4-42CF33FF8950}"/>
              </a:ext>
            </a:extLst>
          </p:cNvPr>
          <p:cNvSpPr/>
          <p:nvPr/>
        </p:nvSpPr>
        <p:spPr>
          <a:xfrm>
            <a:off x="740664" y="1554480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tokendatecount</a:t>
            </a:r>
            <a:endParaRPr lang="en-US" b="1" dirty="0"/>
          </a:p>
          <a:p>
            <a:r>
              <a:rPr lang="en-US" dirty="0"/>
              <a:t>token VARCHAR (50)</a:t>
            </a:r>
          </a:p>
          <a:p>
            <a:r>
              <a:rPr lang="en-US" dirty="0"/>
              <a:t>date </a:t>
            </a:r>
            <a:r>
              <a:rPr lang="en-US" dirty="0" err="1"/>
              <a:t>DATE</a:t>
            </a:r>
            <a:endParaRPr lang="en-US" dirty="0"/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B380AAF-F3EE-EA7A-D8BF-4BD01FE40837}"/>
              </a:ext>
            </a:extLst>
          </p:cNvPr>
          <p:cNvSpPr/>
          <p:nvPr/>
        </p:nvSpPr>
        <p:spPr>
          <a:xfrm>
            <a:off x="3355848" y="1554480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tokenindex</a:t>
            </a:r>
            <a:r>
              <a:rPr lang="de-DE" dirty="0"/>
              <a:t> ON </a:t>
            </a:r>
            <a:r>
              <a:rPr lang="de-DE" dirty="0" err="1"/>
              <a:t>tokendatecount</a:t>
            </a:r>
            <a:r>
              <a:rPr lang="de-DE" dirty="0"/>
              <a:t>(</a:t>
            </a:r>
            <a:r>
              <a:rPr lang="de-DE" dirty="0" err="1"/>
              <a:t>token</a:t>
            </a:r>
            <a:r>
              <a:rPr lang="de-DE" dirty="0"/>
              <a:t>)</a:t>
            </a:r>
          </a:p>
          <a:p>
            <a:r>
              <a:rPr lang="de-DE" dirty="0" err="1"/>
              <a:t>dateindex</a:t>
            </a:r>
            <a:r>
              <a:rPr lang="de-DE" dirty="0"/>
              <a:t> ON </a:t>
            </a:r>
            <a:r>
              <a:rPr lang="de-DE" dirty="0" err="1"/>
              <a:t>tokendatecount</a:t>
            </a:r>
            <a:r>
              <a:rPr lang="de-DE" dirty="0"/>
              <a:t>(date)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47E5052-2C5C-4FBB-2711-FBA66D33E8CC}"/>
              </a:ext>
            </a:extLst>
          </p:cNvPr>
          <p:cNvSpPr txBox="1"/>
          <p:nvPr/>
        </p:nvSpPr>
        <p:spPr>
          <a:xfrm>
            <a:off x="4036782" y="251567"/>
            <a:ext cx="41184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Bagofwords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06F641-2CE3-4121-CA65-2E3B2FBAB3BF}"/>
              </a:ext>
            </a:extLst>
          </p:cNvPr>
          <p:cNvSpPr txBox="1"/>
          <p:nvPr/>
        </p:nvSpPr>
        <p:spPr>
          <a:xfrm>
            <a:off x="740664" y="3429000"/>
            <a:ext cx="10991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Tokencountperyear</a:t>
            </a:r>
            <a:r>
              <a:rPr lang="de-DE" dirty="0"/>
              <a:t>:  </a:t>
            </a:r>
            <a:r>
              <a:rPr lang="de-DE" dirty="0" err="1"/>
              <a:t>token</a:t>
            </a:r>
            <a:r>
              <a:rPr lang="de-DE" dirty="0"/>
              <a:t>, date, </a:t>
            </a:r>
            <a:r>
              <a:rPr lang="de-DE" dirty="0" err="1"/>
              <a:t>frequency</a:t>
            </a:r>
            <a:endParaRPr lang="de-DE" dirty="0"/>
          </a:p>
          <a:p>
            <a:r>
              <a:rPr lang="de-DE" dirty="0"/>
              <a:t>SELECT * FROM </a:t>
            </a:r>
            <a:r>
              <a:rPr lang="de-DE" dirty="0" err="1"/>
              <a:t>tokendatecount</a:t>
            </a:r>
            <a:r>
              <a:rPr lang="de-DE" dirty="0"/>
              <a:t>  [WHERE </a:t>
            </a:r>
            <a:r>
              <a:rPr lang="de-DE" dirty="0" err="1"/>
              <a:t>token</a:t>
            </a:r>
            <a:r>
              <a:rPr lang="de-DE" dirty="0"/>
              <a:t> LIKE </a:t>
            </a:r>
            <a:r>
              <a:rPr lang="en-US" dirty="0"/>
              <a:t>"" </a:t>
            </a:r>
            <a:r>
              <a:rPr lang="de-DE" dirty="0"/>
              <a:t>OR  </a:t>
            </a:r>
            <a:r>
              <a:rPr lang="de-DE" dirty="0" err="1"/>
              <a:t>token</a:t>
            </a:r>
            <a:r>
              <a:rPr lang="de-DE" dirty="0"/>
              <a:t> LIKE </a:t>
            </a:r>
            <a:r>
              <a:rPr lang="en-US"/>
              <a:t>""</a:t>
            </a:r>
            <a:r>
              <a:rPr lang="de-DE"/>
              <a:t>] </a:t>
            </a:r>
            <a:r>
              <a:rPr lang="de-DE" dirty="0"/>
              <a:t>[ORDER BY date ASC]</a:t>
            </a:r>
          </a:p>
          <a:p>
            <a:endParaRPr lang="de-DE" dirty="0"/>
          </a:p>
          <a:p>
            <a:r>
              <a:rPr lang="de-DE" dirty="0" err="1"/>
              <a:t>prefixsearch</a:t>
            </a:r>
            <a:r>
              <a:rPr lang="de-DE" dirty="0"/>
              <a:t>:  </a:t>
            </a:r>
            <a:r>
              <a:rPr lang="de-DE" dirty="0" err="1"/>
              <a:t>token</a:t>
            </a:r>
            <a:r>
              <a:rPr lang="de-DE" dirty="0"/>
              <a:t>, </a:t>
            </a:r>
            <a:r>
              <a:rPr lang="de-DE" dirty="0" err="1"/>
              <a:t>limit</a:t>
            </a:r>
            <a:endParaRPr lang="de-DE" dirty="0"/>
          </a:p>
          <a:p>
            <a:r>
              <a:rPr lang="de-DE" dirty="0"/>
              <a:t>SELECT DISTINCT </a:t>
            </a:r>
            <a:r>
              <a:rPr lang="de-DE" dirty="0" err="1"/>
              <a:t>token</a:t>
            </a:r>
            <a:r>
              <a:rPr lang="de-DE" dirty="0"/>
              <a:t> FROM </a:t>
            </a:r>
            <a:r>
              <a:rPr lang="de-DE" dirty="0" err="1"/>
              <a:t>tokendatecount</a:t>
            </a:r>
            <a:r>
              <a:rPr lang="de-DE" dirty="0"/>
              <a:t>  WHERE </a:t>
            </a:r>
            <a:r>
              <a:rPr lang="de-DE" dirty="0" err="1"/>
              <a:t>token</a:t>
            </a:r>
            <a:r>
              <a:rPr lang="de-DE" dirty="0"/>
              <a:t> LIKE </a:t>
            </a:r>
            <a:r>
              <a:rPr lang="en-US" dirty="0"/>
              <a:t>"</a:t>
            </a:r>
            <a:r>
              <a:rPr lang="de-DE" dirty="0"/>
              <a:t> %</a:t>
            </a:r>
            <a:r>
              <a:rPr lang="en-US" dirty="0"/>
              <a:t>"</a:t>
            </a:r>
            <a:r>
              <a:rPr lang="de-DE" dirty="0"/>
              <a:t> [</a:t>
            </a:r>
            <a:r>
              <a:rPr lang="en-US" dirty="0"/>
              <a:t>GROUP BY SUBSTRING(token,0,tokenlen+cutoff] </a:t>
            </a:r>
            <a:r>
              <a:rPr lang="de-DE" dirty="0"/>
              <a:t>ORDER BY </a:t>
            </a:r>
            <a:r>
              <a:rPr lang="de-DE" dirty="0" err="1"/>
              <a:t>token</a:t>
            </a:r>
            <a:r>
              <a:rPr lang="de-DE" dirty="0"/>
              <a:t> ASC [LIMIT </a:t>
            </a:r>
            <a:r>
              <a:rPr lang="de-DE" dirty="0" err="1"/>
              <a:t>limit</a:t>
            </a:r>
            <a:r>
              <a:rPr lang="de-DE" dirty="0"/>
              <a:t>]</a:t>
            </a:r>
          </a:p>
          <a:p>
            <a:endParaRPr lang="de-DE" dirty="0"/>
          </a:p>
          <a:p>
            <a:r>
              <a:rPr lang="de-DE" dirty="0"/>
              <a:t>Dates: date</a:t>
            </a:r>
            <a:br>
              <a:rPr lang="de-DE" dirty="0"/>
            </a:br>
            <a:r>
              <a:rPr lang="en-US" dirty="0"/>
              <a:t>SELECT DISTINCT date FROM </a:t>
            </a:r>
            <a:r>
              <a:rPr lang="en-US" dirty="0" err="1"/>
              <a:t>tokendatecount</a:t>
            </a:r>
            <a:r>
              <a:rPr lang="en-US" dirty="0"/>
              <a:t> ORDER BY date ASC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1191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C357801-8FBC-40B3-39F7-4BDDB6AE6F9D}"/>
              </a:ext>
            </a:extLst>
          </p:cNvPr>
          <p:cNvSpPr/>
          <p:nvPr/>
        </p:nvSpPr>
        <p:spPr>
          <a:xfrm>
            <a:off x="740664" y="1554480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ngramdatecount</a:t>
            </a:r>
            <a:endParaRPr lang="en-US" b="1" dirty="0"/>
          </a:p>
          <a:p>
            <a:r>
              <a:rPr lang="en-US" dirty="0" err="1"/>
              <a:t>ngram</a:t>
            </a:r>
            <a:r>
              <a:rPr lang="en-US" dirty="0"/>
              <a:t> VARCHAR (50)</a:t>
            </a:r>
          </a:p>
          <a:p>
            <a:r>
              <a:rPr lang="en-US" dirty="0"/>
              <a:t>date </a:t>
            </a:r>
            <a:r>
              <a:rPr lang="en-US" dirty="0" err="1"/>
              <a:t>DATE</a:t>
            </a:r>
            <a:endParaRPr lang="en-US" dirty="0"/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BE878-3CED-BC4E-A425-75B74CF95BD9}"/>
              </a:ext>
            </a:extLst>
          </p:cNvPr>
          <p:cNvSpPr/>
          <p:nvPr/>
        </p:nvSpPr>
        <p:spPr>
          <a:xfrm>
            <a:off x="3355848" y="1554480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ngramngramdateindex</a:t>
            </a:r>
            <a:r>
              <a:rPr lang="de-DE" dirty="0"/>
              <a:t> ON </a:t>
            </a:r>
            <a:r>
              <a:rPr lang="en-US" dirty="0" err="1"/>
              <a:t>ngramdatecount</a:t>
            </a:r>
            <a:r>
              <a:rPr lang="en-US" dirty="0"/>
              <a:t>(</a:t>
            </a:r>
            <a:r>
              <a:rPr lang="en-US" dirty="0" err="1"/>
              <a:t>ngram</a:t>
            </a:r>
            <a:r>
              <a:rPr lang="en-US" dirty="0"/>
              <a:t>)</a:t>
            </a:r>
          </a:p>
          <a:p>
            <a:r>
              <a:rPr lang="de-DE" dirty="0" err="1"/>
              <a:t>ngram</a:t>
            </a:r>
            <a:r>
              <a:rPr lang="de-DE" dirty="0"/>
              <a:t> </a:t>
            </a:r>
            <a:r>
              <a:rPr lang="de-DE" dirty="0" err="1"/>
              <a:t>dateindex</a:t>
            </a:r>
            <a:r>
              <a:rPr lang="de-DE" dirty="0"/>
              <a:t> ON </a:t>
            </a:r>
            <a:r>
              <a:rPr lang="en-US" dirty="0" err="1"/>
              <a:t>ngramdatecount</a:t>
            </a:r>
            <a:r>
              <a:rPr lang="en-US" dirty="0"/>
              <a:t>(date)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030B26-A7DD-4CE6-187C-1FEDC04A8493}"/>
              </a:ext>
            </a:extLst>
          </p:cNvPr>
          <p:cNvSpPr txBox="1"/>
          <p:nvPr/>
        </p:nvSpPr>
        <p:spPr>
          <a:xfrm>
            <a:off x="4913624" y="251567"/>
            <a:ext cx="23647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ngram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0E1388D-6920-97D5-1B28-385AE1A2A90F}"/>
              </a:ext>
            </a:extLst>
          </p:cNvPr>
          <p:cNvSpPr/>
          <p:nvPr/>
        </p:nvSpPr>
        <p:spPr>
          <a:xfrm>
            <a:off x="740664" y="3099817"/>
            <a:ext cx="2615184" cy="969263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ngramcount</a:t>
            </a:r>
            <a:endParaRPr lang="en-US" b="1" dirty="0"/>
          </a:p>
          <a:p>
            <a:r>
              <a:rPr lang="en-US" dirty="0" err="1"/>
              <a:t>ngram</a:t>
            </a:r>
            <a:r>
              <a:rPr lang="en-US" dirty="0"/>
              <a:t> VARCHAR (50)</a:t>
            </a:r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A084E9E-5C5F-BC21-DC12-1C0CA06F3146}"/>
              </a:ext>
            </a:extLst>
          </p:cNvPr>
          <p:cNvSpPr/>
          <p:nvPr/>
        </p:nvSpPr>
        <p:spPr>
          <a:xfrm>
            <a:off x="3355848" y="3099817"/>
            <a:ext cx="7281672" cy="512063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ngramindex</a:t>
            </a:r>
            <a:r>
              <a:rPr lang="de-DE" dirty="0"/>
              <a:t> ON </a:t>
            </a:r>
            <a:r>
              <a:rPr lang="en-US" dirty="0" err="1"/>
              <a:t>ngramcount</a:t>
            </a:r>
            <a:r>
              <a:rPr lang="en-US" dirty="0"/>
              <a:t>(</a:t>
            </a:r>
            <a:r>
              <a:rPr lang="en-US" dirty="0" err="1"/>
              <a:t>ngram</a:t>
            </a:r>
            <a:r>
              <a:rPr lang="en-US" dirty="0"/>
              <a:t>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F0558D1-77AB-142C-25C7-BD702CBCFEBC}"/>
              </a:ext>
            </a:extLst>
          </p:cNvPr>
          <p:cNvSpPr txBox="1"/>
          <p:nvPr/>
        </p:nvSpPr>
        <p:spPr>
          <a:xfrm>
            <a:off x="0" y="4270249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Ngramperyear</a:t>
            </a:r>
            <a:r>
              <a:rPr lang="de-DE" dirty="0"/>
              <a:t>: </a:t>
            </a:r>
            <a:r>
              <a:rPr lang="de-DE" dirty="0" err="1"/>
              <a:t>ngram</a:t>
            </a:r>
            <a:r>
              <a:rPr lang="de-DE" dirty="0"/>
              <a:t> date </a:t>
            </a:r>
            <a:r>
              <a:rPr lang="de-DE" dirty="0" err="1"/>
              <a:t>frequency</a:t>
            </a:r>
            <a:endParaRPr lang="de-DE" dirty="0"/>
          </a:p>
          <a:p>
            <a:r>
              <a:rPr lang="de-DE" dirty="0"/>
              <a:t>SELECT * FROM </a:t>
            </a:r>
            <a:r>
              <a:rPr lang="de-DE" dirty="0" err="1"/>
              <a:t>ngramdatecount</a:t>
            </a:r>
            <a:r>
              <a:rPr lang="de-DE" dirty="0"/>
              <a:t> [</a:t>
            </a:r>
            <a:r>
              <a:rPr lang="en-US" dirty="0"/>
              <a:t>WHERE </a:t>
            </a:r>
            <a:r>
              <a:rPr lang="en-US" dirty="0" err="1"/>
              <a:t>ngram</a:t>
            </a:r>
            <a:r>
              <a:rPr lang="en-US" dirty="0"/>
              <a:t> LIKE "%--%"] [ORDER BY date ASC]</a:t>
            </a:r>
          </a:p>
          <a:p>
            <a:endParaRPr lang="en-US" dirty="0"/>
          </a:p>
          <a:p>
            <a:r>
              <a:rPr lang="de-DE" dirty="0" err="1"/>
              <a:t>prefixngramsearch</a:t>
            </a:r>
            <a:r>
              <a:rPr lang="de-DE" dirty="0"/>
              <a:t>: </a:t>
            </a:r>
            <a:r>
              <a:rPr lang="en-US" dirty="0" err="1"/>
              <a:t>ngram</a:t>
            </a:r>
            <a:r>
              <a:rPr lang="de-DE" dirty="0"/>
              <a:t>, </a:t>
            </a:r>
            <a:r>
              <a:rPr lang="de-DE" dirty="0" err="1"/>
              <a:t>limit</a:t>
            </a:r>
            <a:endParaRPr lang="de-DE" dirty="0"/>
          </a:p>
          <a:p>
            <a:r>
              <a:rPr lang="de-DE" dirty="0"/>
              <a:t>SELECT DISTINCT </a:t>
            </a:r>
            <a:r>
              <a:rPr lang="de-DE" dirty="0" err="1"/>
              <a:t>token</a:t>
            </a:r>
            <a:r>
              <a:rPr lang="de-DE" dirty="0"/>
              <a:t> FROM </a:t>
            </a:r>
            <a:r>
              <a:rPr lang="de-DE" dirty="0" err="1"/>
              <a:t>ngramcount</a:t>
            </a:r>
            <a:r>
              <a:rPr lang="de-DE" dirty="0"/>
              <a:t>  WHERE </a:t>
            </a:r>
            <a:r>
              <a:rPr lang="en-US" dirty="0" err="1"/>
              <a:t>ngram</a:t>
            </a:r>
            <a:r>
              <a:rPr lang="de-DE" dirty="0"/>
              <a:t> LIKE </a:t>
            </a:r>
            <a:r>
              <a:rPr lang="en-US" dirty="0"/>
              <a:t>"</a:t>
            </a:r>
            <a:r>
              <a:rPr lang="de-DE" dirty="0"/>
              <a:t> %</a:t>
            </a:r>
            <a:r>
              <a:rPr lang="en-US" dirty="0"/>
              <a:t>"</a:t>
            </a:r>
            <a:r>
              <a:rPr lang="de-DE" dirty="0"/>
              <a:t> [</a:t>
            </a:r>
            <a:r>
              <a:rPr lang="en-US" dirty="0"/>
              <a:t>GROUP BY SUBSTRING(token,0,tokenlen+cutoff] </a:t>
            </a:r>
            <a:r>
              <a:rPr lang="de-DE" dirty="0"/>
              <a:t>ORDER BY </a:t>
            </a:r>
            <a:r>
              <a:rPr lang="de-DE" dirty="0" err="1"/>
              <a:t>token</a:t>
            </a:r>
            <a:r>
              <a:rPr lang="de-DE" dirty="0"/>
              <a:t> ASC [LIMIT </a:t>
            </a:r>
            <a:r>
              <a:rPr lang="de-DE" dirty="0" err="1"/>
              <a:t>limit</a:t>
            </a:r>
            <a:r>
              <a:rPr lang="de-DE" dirty="0"/>
              <a:t>]</a:t>
            </a:r>
          </a:p>
          <a:p>
            <a:endParaRPr lang="en-US" dirty="0"/>
          </a:p>
          <a:p>
            <a:r>
              <a:rPr lang="en-US" dirty="0" err="1"/>
              <a:t>Ngram</a:t>
            </a:r>
            <a:r>
              <a:rPr lang="en-US" dirty="0"/>
              <a:t>: </a:t>
            </a:r>
            <a:r>
              <a:rPr lang="de-DE" dirty="0" err="1"/>
              <a:t>ngram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  <a:p>
            <a:r>
              <a:rPr lang="en-US" dirty="0"/>
              <a:t>SELECT </a:t>
            </a:r>
            <a:r>
              <a:rPr lang="en-US" dirty="0" err="1"/>
              <a:t>ngram</a:t>
            </a:r>
            <a:r>
              <a:rPr lang="en-US" dirty="0"/>
              <a:t>, frequency FROM </a:t>
            </a:r>
            <a:r>
              <a:rPr lang="en-US" dirty="0" err="1"/>
              <a:t>ngramcount</a:t>
            </a:r>
            <a:r>
              <a:rPr lang="en-US" dirty="0"/>
              <a:t> WHERE frequency &gt;="" [AND </a:t>
            </a:r>
            <a:r>
              <a:rPr lang="en-US" dirty="0" err="1"/>
              <a:t>ngram</a:t>
            </a:r>
            <a:r>
              <a:rPr lang="en-US" dirty="0"/>
              <a:t> LIKE "%--%"][ORDER BY frequency DESC]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E17424B-D158-862C-C2A1-1DAB88E7C254}"/>
              </a:ext>
            </a:extLst>
          </p:cNvPr>
          <p:cNvSpPr txBox="1"/>
          <p:nvPr/>
        </p:nvSpPr>
        <p:spPr>
          <a:xfrm>
            <a:off x="662940" y="941832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ngram</a:t>
            </a:r>
            <a:r>
              <a:rPr lang="de-DE" dirty="0"/>
              <a:t>[n].</a:t>
            </a:r>
            <a:r>
              <a:rPr lang="de-DE" dirty="0" err="1"/>
              <a:t>db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79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D4E6-417C-4173-0E1E-8C35FC63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7020B6D-717C-7543-1CFA-FC773546DED9}"/>
              </a:ext>
            </a:extLst>
          </p:cNvPr>
          <p:cNvSpPr/>
          <p:nvPr/>
        </p:nvSpPr>
        <p:spPr>
          <a:xfrm>
            <a:off x="740664" y="1554480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collocation</a:t>
            </a:r>
          </a:p>
          <a:p>
            <a:r>
              <a:rPr lang="en-US" dirty="0"/>
              <a:t>left VARCHAR (50)</a:t>
            </a:r>
          </a:p>
          <a:p>
            <a:r>
              <a:rPr lang="en-US" dirty="0"/>
              <a:t>right VARCHAR (50)</a:t>
            </a:r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3882DF2-FD1B-3618-D8C3-A48738F9C6B5}"/>
              </a:ext>
            </a:extLst>
          </p:cNvPr>
          <p:cNvSpPr/>
          <p:nvPr/>
        </p:nvSpPr>
        <p:spPr>
          <a:xfrm>
            <a:off x="3355848" y="1554480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leftcollocationindex</a:t>
            </a:r>
            <a:r>
              <a:rPr lang="de-DE" dirty="0"/>
              <a:t> ON </a:t>
            </a:r>
            <a:r>
              <a:rPr lang="en-US" dirty="0"/>
              <a:t>collocation(left)</a:t>
            </a:r>
          </a:p>
          <a:p>
            <a:r>
              <a:rPr lang="de-DE" dirty="0" err="1"/>
              <a:t>rightcollocationindex</a:t>
            </a:r>
            <a:r>
              <a:rPr lang="de-DE" dirty="0"/>
              <a:t> ON </a:t>
            </a:r>
            <a:r>
              <a:rPr lang="en-US" dirty="0"/>
              <a:t>collocation(right)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433A14-44A4-37DD-48F0-8C215B1333F9}"/>
              </a:ext>
            </a:extLst>
          </p:cNvPr>
          <p:cNvSpPr txBox="1"/>
          <p:nvPr/>
        </p:nvSpPr>
        <p:spPr>
          <a:xfrm>
            <a:off x="4123345" y="251567"/>
            <a:ext cx="39453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Collocation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D312B16-D4F0-02B4-73D1-6D1D70D2E99F}"/>
              </a:ext>
            </a:extLst>
          </p:cNvPr>
          <p:cNvSpPr/>
          <p:nvPr/>
        </p:nvSpPr>
        <p:spPr>
          <a:xfrm>
            <a:off x="740664" y="3099817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collocationperyear</a:t>
            </a:r>
            <a:endParaRPr lang="en-US" b="1" dirty="0"/>
          </a:p>
          <a:p>
            <a:r>
              <a:rPr lang="en-US" dirty="0"/>
              <a:t>left VARCHAR (50)</a:t>
            </a:r>
          </a:p>
          <a:p>
            <a:r>
              <a:rPr lang="en-US" dirty="0"/>
              <a:t>right VARCHAR (50)</a:t>
            </a:r>
          </a:p>
          <a:p>
            <a:r>
              <a:rPr lang="en-US" dirty="0"/>
              <a:t>frequency INTEGER</a:t>
            </a:r>
          </a:p>
          <a:p>
            <a:r>
              <a:rPr lang="en-US" dirty="0"/>
              <a:t>date </a:t>
            </a:r>
            <a:r>
              <a:rPr lang="en-US" dirty="0" err="1"/>
              <a:t>DATE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42E8B9-3B08-B432-43C8-3C4557DEE480}"/>
              </a:ext>
            </a:extLst>
          </p:cNvPr>
          <p:cNvSpPr/>
          <p:nvPr/>
        </p:nvSpPr>
        <p:spPr>
          <a:xfrm>
            <a:off x="3355848" y="3099817"/>
            <a:ext cx="7281672" cy="905255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leftcollocationperyearindex</a:t>
            </a:r>
            <a:r>
              <a:rPr lang="de-DE" dirty="0"/>
              <a:t> ON </a:t>
            </a:r>
            <a:r>
              <a:rPr lang="en-US" dirty="0" err="1"/>
              <a:t>collocationperyear</a:t>
            </a:r>
            <a:r>
              <a:rPr lang="en-US" dirty="0"/>
              <a:t> (left)</a:t>
            </a:r>
          </a:p>
          <a:p>
            <a:r>
              <a:rPr lang="en-US" dirty="0" err="1"/>
              <a:t>rightcollocationperyearindex</a:t>
            </a:r>
            <a:r>
              <a:rPr lang="en-US" dirty="0"/>
              <a:t> ON </a:t>
            </a:r>
            <a:r>
              <a:rPr lang="en-US" dirty="0" err="1"/>
              <a:t>collocationperyear</a:t>
            </a:r>
            <a:r>
              <a:rPr lang="en-US" dirty="0"/>
              <a:t>(right)</a:t>
            </a:r>
          </a:p>
          <a:p>
            <a:r>
              <a:rPr lang="en-US" dirty="0" err="1"/>
              <a:t>datecollocationperyearindex</a:t>
            </a:r>
            <a:r>
              <a:rPr lang="en-US" dirty="0"/>
              <a:t> ON </a:t>
            </a:r>
            <a:r>
              <a:rPr lang="en-US" dirty="0" err="1"/>
              <a:t>collocationperyear</a:t>
            </a:r>
            <a:r>
              <a:rPr lang="en-US" dirty="0"/>
              <a:t>(date)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93C788-ECF0-A7FF-637E-9CE154B923ED}"/>
              </a:ext>
            </a:extLst>
          </p:cNvPr>
          <p:cNvSpPr txBox="1"/>
          <p:nvPr/>
        </p:nvSpPr>
        <p:spPr>
          <a:xfrm>
            <a:off x="662940" y="941832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collocation.db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326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C357801-8FBC-40B3-39F7-4BDDB6AE6F9D}"/>
              </a:ext>
            </a:extLst>
          </p:cNvPr>
          <p:cNvSpPr/>
          <p:nvPr/>
        </p:nvSpPr>
        <p:spPr>
          <a:xfrm>
            <a:off x="740664" y="1554480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langDetectngram</a:t>
            </a:r>
            <a:endParaRPr lang="en-US" b="1" dirty="0"/>
          </a:p>
          <a:p>
            <a:r>
              <a:rPr lang="en-US" dirty="0" err="1"/>
              <a:t>ngram</a:t>
            </a:r>
            <a:r>
              <a:rPr lang="en-US" dirty="0"/>
              <a:t> VARCHAR (50)</a:t>
            </a:r>
          </a:p>
          <a:p>
            <a:r>
              <a:rPr lang="en-US" dirty="0"/>
              <a:t>frequency INTEGER</a:t>
            </a:r>
          </a:p>
          <a:p>
            <a:r>
              <a:rPr lang="en-US" dirty="0" err="1"/>
              <a:t>deu</a:t>
            </a:r>
            <a:r>
              <a:rPr lang="en-US" dirty="0"/>
              <a:t> INTEGER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BE878-3CED-BC4E-A425-75B74CF95BD9}"/>
              </a:ext>
            </a:extLst>
          </p:cNvPr>
          <p:cNvSpPr/>
          <p:nvPr/>
        </p:nvSpPr>
        <p:spPr>
          <a:xfrm>
            <a:off x="3355848" y="1554480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langDetectngramindex</a:t>
            </a:r>
            <a:r>
              <a:rPr lang="de-DE" dirty="0"/>
              <a:t> ON </a:t>
            </a:r>
            <a:r>
              <a:rPr lang="de-DE" dirty="0" err="1"/>
              <a:t>langDetectngram</a:t>
            </a:r>
            <a:r>
              <a:rPr lang="de-DE" dirty="0"/>
              <a:t>(</a:t>
            </a:r>
            <a:r>
              <a:rPr lang="de-DE" dirty="0" err="1"/>
              <a:t>ngram</a:t>
            </a:r>
            <a:r>
              <a:rPr lang="de-DE" dirty="0"/>
              <a:t>) </a:t>
            </a:r>
          </a:p>
          <a:p>
            <a:r>
              <a:rPr lang="de-DE" dirty="0" err="1"/>
              <a:t>langDetectngramdeuindex</a:t>
            </a:r>
            <a:r>
              <a:rPr lang="de-DE" dirty="0"/>
              <a:t> ON </a:t>
            </a:r>
            <a:r>
              <a:rPr lang="de-DE" dirty="0" err="1"/>
              <a:t>langDetectngram</a:t>
            </a:r>
            <a:r>
              <a:rPr lang="de-DE" dirty="0"/>
              <a:t>(</a:t>
            </a:r>
            <a:r>
              <a:rPr lang="de-DE" dirty="0" err="1"/>
              <a:t>deu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030B26-A7DD-4CE6-187C-1FEDC04A8493}"/>
              </a:ext>
            </a:extLst>
          </p:cNvPr>
          <p:cNvSpPr txBox="1"/>
          <p:nvPr/>
        </p:nvSpPr>
        <p:spPr>
          <a:xfrm>
            <a:off x="4251586" y="251567"/>
            <a:ext cx="36888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langDetect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BBE717-0B47-349B-AA07-3647FB16AB4A}"/>
              </a:ext>
            </a:extLst>
          </p:cNvPr>
          <p:cNvSpPr/>
          <p:nvPr/>
        </p:nvSpPr>
        <p:spPr>
          <a:xfrm>
            <a:off x="740664" y="3231618"/>
            <a:ext cx="2615184" cy="1389888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langDetecttoken</a:t>
            </a:r>
            <a:endParaRPr lang="en-US" b="1" dirty="0"/>
          </a:p>
          <a:p>
            <a:r>
              <a:rPr lang="en-US" dirty="0"/>
              <a:t>token VARCHAR (50)</a:t>
            </a:r>
          </a:p>
          <a:p>
            <a:r>
              <a:rPr lang="en-US" dirty="0"/>
              <a:t>frequency INTEGER</a:t>
            </a:r>
          </a:p>
          <a:p>
            <a:r>
              <a:rPr lang="en-US" dirty="0" err="1"/>
              <a:t>deu</a:t>
            </a:r>
            <a:r>
              <a:rPr lang="en-US" dirty="0"/>
              <a:t> INTEGER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FA6E0C4-FF6A-AC19-B355-E4FFF6AB1248}"/>
              </a:ext>
            </a:extLst>
          </p:cNvPr>
          <p:cNvSpPr/>
          <p:nvPr/>
        </p:nvSpPr>
        <p:spPr>
          <a:xfrm>
            <a:off x="3355848" y="3231618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langDetecttokenindex</a:t>
            </a:r>
            <a:r>
              <a:rPr lang="de-DE" dirty="0"/>
              <a:t> ON </a:t>
            </a:r>
            <a:r>
              <a:rPr lang="de-DE" dirty="0" err="1"/>
              <a:t>langDetecttoken</a:t>
            </a:r>
            <a:r>
              <a:rPr lang="de-DE" dirty="0"/>
              <a:t>(</a:t>
            </a:r>
            <a:r>
              <a:rPr lang="de-DE" dirty="0" err="1"/>
              <a:t>token</a:t>
            </a:r>
            <a:r>
              <a:rPr lang="de-DE" dirty="0"/>
              <a:t>) </a:t>
            </a:r>
          </a:p>
          <a:p>
            <a:r>
              <a:rPr lang="de-DE" dirty="0" err="1"/>
              <a:t>langDetecttokendeuindex</a:t>
            </a:r>
            <a:r>
              <a:rPr lang="de-DE" dirty="0"/>
              <a:t> ON </a:t>
            </a:r>
            <a:r>
              <a:rPr lang="de-DE" dirty="0" err="1"/>
              <a:t>langDetecttoken</a:t>
            </a:r>
            <a:r>
              <a:rPr lang="de-DE" dirty="0"/>
              <a:t>(</a:t>
            </a:r>
            <a:r>
              <a:rPr lang="de-DE" dirty="0" err="1"/>
              <a:t>deu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5C932E7-F23B-A982-8FBA-692F69FCD23F}"/>
              </a:ext>
            </a:extLst>
          </p:cNvPr>
          <p:cNvSpPr txBox="1"/>
          <p:nvPr/>
        </p:nvSpPr>
        <p:spPr>
          <a:xfrm>
            <a:off x="201168" y="4934188"/>
            <a:ext cx="11990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langDetectnGram</a:t>
            </a:r>
            <a:r>
              <a:rPr lang="de-DE" dirty="0"/>
              <a:t>: </a:t>
            </a:r>
            <a:r>
              <a:rPr lang="de-DE" dirty="0" err="1"/>
              <a:t>ngram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  <a:p>
            <a:r>
              <a:rPr lang="de-DE" dirty="0"/>
              <a:t>SELECT </a:t>
            </a:r>
            <a:r>
              <a:rPr lang="de-DE" dirty="0" err="1"/>
              <a:t>ngram</a:t>
            </a:r>
            <a:r>
              <a:rPr lang="de-DE" dirty="0"/>
              <a:t>, </a:t>
            </a:r>
            <a:r>
              <a:rPr lang="de-DE" dirty="0" err="1"/>
              <a:t>frequency</a:t>
            </a:r>
            <a:r>
              <a:rPr lang="de-DE" dirty="0"/>
              <a:t>, </a:t>
            </a:r>
            <a:r>
              <a:rPr lang="de-DE" dirty="0" err="1"/>
              <a:t>deu</a:t>
            </a:r>
            <a:r>
              <a:rPr lang="de-DE" dirty="0"/>
              <a:t> FROM </a:t>
            </a:r>
            <a:r>
              <a:rPr lang="de-DE" dirty="0" err="1"/>
              <a:t>langDetectngram</a:t>
            </a:r>
            <a:r>
              <a:rPr lang="de-DE" dirty="0"/>
              <a:t> WHERE </a:t>
            </a:r>
            <a:r>
              <a:rPr lang="de-DE" dirty="0" err="1"/>
              <a:t>deu</a:t>
            </a:r>
            <a:r>
              <a:rPr lang="de-DE" dirty="0"/>
              <a:t> == „“ [AND </a:t>
            </a:r>
            <a:r>
              <a:rPr lang="de-DE" dirty="0" err="1"/>
              <a:t>ngram</a:t>
            </a:r>
            <a:r>
              <a:rPr lang="de-DE" dirty="0"/>
              <a:t> LIKE "%--%„] [ORDER BY </a:t>
            </a:r>
            <a:r>
              <a:rPr lang="de-DE" dirty="0" err="1"/>
              <a:t>frequency</a:t>
            </a:r>
            <a:r>
              <a:rPr lang="de-DE" dirty="0"/>
              <a:t> DESC]</a:t>
            </a:r>
          </a:p>
        </p:txBody>
      </p:sp>
    </p:spTree>
    <p:extLst>
      <p:ext uri="{BB962C8B-B14F-4D97-AF65-F5344CB8AC3E}">
        <p14:creationId xmlns:p14="http://schemas.microsoft.com/office/powerpoint/2010/main" val="1182651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2C357801-8FBC-40B3-39F7-4BDDB6AE6F9D}"/>
              </a:ext>
            </a:extLst>
          </p:cNvPr>
          <p:cNvSpPr/>
          <p:nvPr/>
        </p:nvSpPr>
        <p:spPr>
          <a:xfrm>
            <a:off x="740664" y="1325878"/>
            <a:ext cx="2615184" cy="1042416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stemmingmapping</a:t>
            </a:r>
            <a:endParaRPr lang="en-US" b="1" dirty="0"/>
          </a:p>
          <a:p>
            <a:r>
              <a:rPr lang="en-US" dirty="0"/>
              <a:t>stemming VARCHAR (50) mapping VARCHAR (50)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6BE878-3CED-BC4E-A425-75B74CF95BD9}"/>
              </a:ext>
            </a:extLst>
          </p:cNvPr>
          <p:cNvSpPr/>
          <p:nvPr/>
        </p:nvSpPr>
        <p:spPr>
          <a:xfrm>
            <a:off x="3355848" y="1325878"/>
            <a:ext cx="7281672" cy="813816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stemmingindex</a:t>
            </a:r>
            <a:r>
              <a:rPr lang="de-DE" dirty="0"/>
              <a:t> ON </a:t>
            </a:r>
            <a:r>
              <a:rPr lang="de-DE" dirty="0" err="1"/>
              <a:t>stemmingmapping</a:t>
            </a:r>
            <a:r>
              <a:rPr lang="de-DE" dirty="0"/>
              <a:t>(</a:t>
            </a:r>
            <a:r>
              <a:rPr lang="de-DE" dirty="0" err="1"/>
              <a:t>stemming</a:t>
            </a:r>
            <a:r>
              <a:rPr lang="de-DE" dirty="0"/>
              <a:t>)</a:t>
            </a:r>
          </a:p>
          <a:p>
            <a:r>
              <a:rPr lang="de-DE" dirty="0" err="1"/>
              <a:t>dateindex</a:t>
            </a:r>
            <a:r>
              <a:rPr lang="de-DE" dirty="0"/>
              <a:t> ON </a:t>
            </a:r>
            <a:r>
              <a:rPr lang="de-DE" dirty="0" err="1"/>
              <a:t>stemmingmapping</a:t>
            </a:r>
            <a:r>
              <a:rPr lang="de-DE" dirty="0"/>
              <a:t>(</a:t>
            </a:r>
            <a:r>
              <a:rPr lang="de-DE" dirty="0" err="1"/>
              <a:t>mapping</a:t>
            </a:r>
            <a:r>
              <a:rPr lang="de-DE" dirty="0"/>
              <a:t>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F030B26-A7DD-4CE6-187C-1FEDC04A8493}"/>
              </a:ext>
            </a:extLst>
          </p:cNvPr>
          <p:cNvSpPr txBox="1"/>
          <p:nvPr/>
        </p:nvSpPr>
        <p:spPr>
          <a:xfrm>
            <a:off x="5448226" y="251567"/>
            <a:ext cx="12955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83734C5-FCF7-3377-6086-FDEFFA493F66}"/>
              </a:ext>
            </a:extLst>
          </p:cNvPr>
          <p:cNvSpPr/>
          <p:nvPr/>
        </p:nvSpPr>
        <p:spPr>
          <a:xfrm>
            <a:off x="740664" y="2583180"/>
            <a:ext cx="2615184" cy="1691639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tokenurndatecount</a:t>
            </a:r>
            <a:endParaRPr lang="en-US" b="1" dirty="0"/>
          </a:p>
          <a:p>
            <a:r>
              <a:rPr lang="en-US" dirty="0"/>
              <a:t>token VARCHAR (50)</a:t>
            </a:r>
          </a:p>
          <a:p>
            <a:r>
              <a:rPr lang="en-US" dirty="0"/>
              <a:t>tag VARCHAR (50)</a:t>
            </a:r>
          </a:p>
          <a:p>
            <a:r>
              <a:rPr lang="en-US" dirty="0"/>
              <a:t>urn VARCHAR (50)</a:t>
            </a:r>
          </a:p>
          <a:p>
            <a:r>
              <a:rPr lang="en-US" dirty="0"/>
              <a:t>date </a:t>
            </a:r>
            <a:r>
              <a:rPr lang="en-US" dirty="0" err="1"/>
              <a:t>DATE</a:t>
            </a:r>
            <a:endParaRPr lang="en-US" dirty="0"/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10D8BFA-41AB-90F5-F939-765B43124EAB}"/>
              </a:ext>
            </a:extLst>
          </p:cNvPr>
          <p:cNvSpPr/>
          <p:nvPr/>
        </p:nvSpPr>
        <p:spPr>
          <a:xfrm>
            <a:off x="3355848" y="2583181"/>
            <a:ext cx="7281672" cy="1161288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tokenurntokenindex</a:t>
            </a:r>
            <a:r>
              <a:rPr lang="de-DE" dirty="0"/>
              <a:t> ON </a:t>
            </a:r>
            <a:r>
              <a:rPr lang="de-DE" dirty="0" err="1"/>
              <a:t>tokenurndatecount</a:t>
            </a:r>
            <a:r>
              <a:rPr lang="de-DE" dirty="0"/>
              <a:t>(</a:t>
            </a:r>
            <a:r>
              <a:rPr lang="de-DE" dirty="0" err="1"/>
              <a:t>token</a:t>
            </a:r>
            <a:r>
              <a:rPr lang="de-DE" dirty="0"/>
              <a:t>)</a:t>
            </a:r>
          </a:p>
          <a:p>
            <a:r>
              <a:rPr lang="de-DE" dirty="0" err="1"/>
              <a:t>tokenurndateindex</a:t>
            </a:r>
            <a:r>
              <a:rPr lang="de-DE" dirty="0"/>
              <a:t> ON </a:t>
            </a:r>
            <a:r>
              <a:rPr lang="de-DE" dirty="0" err="1"/>
              <a:t>tokenurndatecount</a:t>
            </a:r>
            <a:r>
              <a:rPr lang="de-DE" dirty="0"/>
              <a:t>(date)</a:t>
            </a:r>
          </a:p>
          <a:p>
            <a:r>
              <a:rPr lang="de-DE" dirty="0" err="1"/>
              <a:t>tokenurnindex</a:t>
            </a:r>
            <a:r>
              <a:rPr lang="de-DE" dirty="0"/>
              <a:t> ON </a:t>
            </a:r>
            <a:r>
              <a:rPr lang="de-DE" dirty="0" err="1"/>
              <a:t>tokenurndatecount</a:t>
            </a:r>
            <a:r>
              <a:rPr lang="de-DE" dirty="0"/>
              <a:t>(</a:t>
            </a:r>
            <a:r>
              <a:rPr lang="de-DE" dirty="0" err="1"/>
              <a:t>urn</a:t>
            </a:r>
            <a:r>
              <a:rPr lang="de-DE" dirty="0"/>
              <a:t>)</a:t>
            </a:r>
          </a:p>
          <a:p>
            <a:r>
              <a:rPr lang="de-DE" dirty="0" err="1"/>
              <a:t>tokenurntagindex</a:t>
            </a:r>
            <a:r>
              <a:rPr lang="de-DE" dirty="0"/>
              <a:t> ON </a:t>
            </a:r>
            <a:r>
              <a:rPr lang="de-DE" dirty="0" err="1"/>
              <a:t>tokenurndatecount</a:t>
            </a:r>
            <a:r>
              <a:rPr lang="de-DE" dirty="0"/>
              <a:t>(tag)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8FC5910-5245-CE1E-B619-60A98C606768}"/>
              </a:ext>
            </a:extLst>
          </p:cNvPr>
          <p:cNvSpPr/>
          <p:nvPr/>
        </p:nvSpPr>
        <p:spPr>
          <a:xfrm>
            <a:off x="740664" y="4475991"/>
            <a:ext cx="2615184" cy="1536190"/>
          </a:xfrm>
          <a:prstGeom prst="rec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tokendatecount</a:t>
            </a:r>
            <a:endParaRPr lang="en-US" b="1" dirty="0"/>
          </a:p>
          <a:p>
            <a:r>
              <a:rPr lang="en-US" dirty="0"/>
              <a:t>token VARCHAR (50)</a:t>
            </a:r>
          </a:p>
          <a:p>
            <a:r>
              <a:rPr lang="en-US" dirty="0"/>
              <a:t>tag VARCHAR (50)</a:t>
            </a:r>
          </a:p>
          <a:p>
            <a:r>
              <a:rPr lang="en-US" dirty="0"/>
              <a:t>date </a:t>
            </a:r>
            <a:r>
              <a:rPr lang="en-US" dirty="0" err="1"/>
              <a:t>DATE</a:t>
            </a:r>
            <a:endParaRPr lang="en-US" dirty="0"/>
          </a:p>
          <a:p>
            <a:r>
              <a:rPr lang="en-US" dirty="0"/>
              <a:t>frequency INTEGER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7EA5B5E-1C97-E2BA-E6BB-6C188739B101}"/>
              </a:ext>
            </a:extLst>
          </p:cNvPr>
          <p:cNvSpPr/>
          <p:nvPr/>
        </p:nvSpPr>
        <p:spPr>
          <a:xfrm>
            <a:off x="3355848" y="4475991"/>
            <a:ext cx="7281672" cy="1005837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err="1"/>
              <a:t>tokenindex</a:t>
            </a:r>
            <a:r>
              <a:rPr lang="de-DE" dirty="0"/>
              <a:t> ON </a:t>
            </a:r>
            <a:r>
              <a:rPr lang="de-DE" dirty="0" err="1"/>
              <a:t>tokendatecount</a:t>
            </a:r>
            <a:r>
              <a:rPr lang="de-DE" dirty="0"/>
              <a:t>(</a:t>
            </a:r>
            <a:r>
              <a:rPr lang="de-DE" dirty="0" err="1"/>
              <a:t>token</a:t>
            </a:r>
            <a:r>
              <a:rPr lang="de-DE" dirty="0"/>
              <a:t>)</a:t>
            </a:r>
          </a:p>
          <a:p>
            <a:r>
              <a:rPr lang="de-DE" dirty="0" err="1"/>
              <a:t>tokendateindex</a:t>
            </a:r>
            <a:r>
              <a:rPr lang="de-DE" dirty="0"/>
              <a:t> ON </a:t>
            </a:r>
            <a:r>
              <a:rPr lang="de-DE" dirty="0" err="1"/>
              <a:t>tokendatecount</a:t>
            </a:r>
            <a:r>
              <a:rPr lang="de-DE" dirty="0"/>
              <a:t>(date)</a:t>
            </a:r>
          </a:p>
          <a:p>
            <a:r>
              <a:rPr lang="de-DE" dirty="0" err="1"/>
              <a:t>tokentagindex</a:t>
            </a:r>
            <a:r>
              <a:rPr lang="de-DE" dirty="0"/>
              <a:t> ON </a:t>
            </a:r>
            <a:r>
              <a:rPr lang="de-DE" dirty="0" err="1"/>
              <a:t>tokendatecount</a:t>
            </a:r>
            <a:r>
              <a:rPr lang="de-DE" dirty="0"/>
              <a:t>(tag)</a:t>
            </a:r>
          </a:p>
        </p:txBody>
      </p:sp>
    </p:spTree>
    <p:extLst>
      <p:ext uri="{BB962C8B-B14F-4D97-AF65-F5344CB8AC3E}">
        <p14:creationId xmlns:p14="http://schemas.microsoft.com/office/powerpoint/2010/main" val="295869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8F030B26-A7DD-4CE6-187C-1FEDC04A8493}"/>
              </a:ext>
            </a:extLst>
          </p:cNvPr>
          <p:cNvSpPr txBox="1"/>
          <p:nvPr/>
        </p:nvSpPr>
        <p:spPr>
          <a:xfrm>
            <a:off x="5448226" y="251567"/>
            <a:ext cx="12955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</a:t>
            </a:r>
            <a:endParaRPr lang="de-DE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D75EA85-08C6-98A2-2C3A-4FB83EB8DE27}"/>
              </a:ext>
            </a:extLst>
          </p:cNvPr>
          <p:cNvSpPr txBox="1"/>
          <p:nvPr/>
        </p:nvSpPr>
        <p:spPr>
          <a:xfrm>
            <a:off x="1973198" y="1424678"/>
            <a:ext cx="94842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Stemmings</a:t>
            </a:r>
            <a:r>
              <a:rPr lang="de-DE" dirty="0"/>
              <a:t>: </a:t>
            </a:r>
            <a:r>
              <a:rPr lang="de-DE" dirty="0" err="1"/>
              <a:t>mapping</a:t>
            </a:r>
            <a:endParaRPr lang="de-DE" dirty="0"/>
          </a:p>
          <a:p>
            <a:r>
              <a:rPr lang="de-DE" dirty="0"/>
              <a:t>SELECT * FROM </a:t>
            </a:r>
            <a:r>
              <a:rPr lang="de-DE" dirty="0" err="1"/>
              <a:t>portermapping</a:t>
            </a:r>
            <a:r>
              <a:rPr lang="de-DE" dirty="0"/>
              <a:t> [WHERE </a:t>
            </a:r>
            <a:r>
              <a:rPr lang="de-DE" dirty="0" err="1"/>
              <a:t>stemming</a:t>
            </a:r>
            <a:r>
              <a:rPr lang="de-DE" dirty="0"/>
              <a:t> = „“] [ORDER BY </a:t>
            </a:r>
            <a:r>
              <a:rPr lang="de-DE" dirty="0" err="1"/>
              <a:t>length</a:t>
            </a:r>
            <a:r>
              <a:rPr lang="de-DE" dirty="0"/>
              <a:t>(</a:t>
            </a:r>
            <a:r>
              <a:rPr lang="de-DE" dirty="0" err="1"/>
              <a:t>mapping</a:t>
            </a:r>
            <a:r>
              <a:rPr lang="de-DE" dirty="0"/>
              <a:t>)]</a:t>
            </a:r>
          </a:p>
          <a:p>
            <a:endParaRPr lang="de-DE" dirty="0"/>
          </a:p>
          <a:p>
            <a:r>
              <a:rPr lang="en-US" dirty="0" err="1"/>
              <a:t>Ner_urns</a:t>
            </a:r>
            <a:r>
              <a:rPr lang="en-US" dirty="0"/>
              <a:t>: urn frequency</a:t>
            </a:r>
          </a:p>
          <a:p>
            <a:r>
              <a:rPr lang="en-US" dirty="0"/>
              <a:t>SELECT urn, frequency FROM </a:t>
            </a:r>
            <a:r>
              <a:rPr lang="en-US" dirty="0" err="1"/>
              <a:t>tokenurndatecount</a:t>
            </a:r>
            <a:r>
              <a:rPr lang="en-US" dirty="0"/>
              <a:t> [WHERE token = "”] [ORDER BY date ASC]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798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Breitbild</PresentationFormat>
  <Paragraphs>94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Jochen Tiepmar</dc:creator>
  <cp:lastModifiedBy>Jochen Tiepmar</cp:lastModifiedBy>
  <cp:revision>12</cp:revision>
  <dcterms:created xsi:type="dcterms:W3CDTF">2023-11-20T09:51:46Z</dcterms:created>
  <dcterms:modified xsi:type="dcterms:W3CDTF">2024-02-27T12:08:26Z</dcterms:modified>
</cp:coreProperties>
</file>